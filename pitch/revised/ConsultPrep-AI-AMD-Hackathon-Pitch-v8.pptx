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def5e1f4f74983" /><Relationship Type="http://schemas.openxmlformats.org/officeDocument/2006/relationships/extended-properties" Target="/docProps/app.xml" Id="Rc9319c1d2fdc4aa2" /><Relationship Type="http://schemas.openxmlformats.org/officeDocument/2006/relationships/officeDocument" Target="/ppt/presentation.xml" Id="Rc1c372a25ff742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3b7b3c8d1d48b3"/>
  </p:sldMasterIdLst>
  <p:notesMasterIdLst>
    <p:notesMasterId xmlns:r="http://schemas.openxmlformats.org/officeDocument/2006/relationships" r:id="Ra44dad7111774dd2"/>
  </p:notesMasterIdLst>
  <p:sldIdLst>
    <p:sldId xmlns:r="http://schemas.openxmlformats.org/officeDocument/2006/relationships" id="256" r:id="Rb980d1899c4a4f4c"/>
    <p:sldId xmlns:r="http://schemas.openxmlformats.org/officeDocument/2006/relationships" id="257" r:id="R601d04bb57bb49ab"/>
    <p:sldId xmlns:r="http://schemas.openxmlformats.org/officeDocument/2006/relationships" id="258" r:id="R05b3e8e32bfe4078"/>
    <p:sldId xmlns:r="http://schemas.openxmlformats.org/officeDocument/2006/relationships" id="259" r:id="Rbecd4c970ac44866"/>
    <p:sldId xmlns:r="http://schemas.openxmlformats.org/officeDocument/2006/relationships" id="260" r:id="R5a1c3ddacd6c4612"/>
    <p:sldId xmlns:r="http://schemas.openxmlformats.org/officeDocument/2006/relationships" id="261" r:id="R904f7906da034113"/>
    <p:sldId xmlns:r="http://schemas.openxmlformats.org/officeDocument/2006/relationships" id="262" r:id="Rac875ed8250e4a31"/>
    <p:sldId xmlns:r="http://schemas.openxmlformats.org/officeDocument/2006/relationships" id="263" r:id="Rd4a02e05b4ac4aa9"/>
    <p:sldId xmlns:r="http://schemas.openxmlformats.org/officeDocument/2006/relationships" id="264" r:id="Rcfabb7d606604d78"/>
    <p:sldId xmlns:r="http://schemas.openxmlformats.org/officeDocument/2006/relationships" id="265" r:id="R9b9fbda666654a0b"/>
    <p:sldId xmlns:r="http://schemas.openxmlformats.org/officeDocument/2006/relationships" id="266" r:id="Refe9b1e4ca6b43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3416e1a8f644bf" /><Relationship Type="http://schemas.openxmlformats.org/officeDocument/2006/relationships/slideMaster" Target="/ppt/slideMasters/slideMaster1.xml" Id="R8c3b7b3c8d1d48b3" /><Relationship Type="http://schemas.openxmlformats.org/officeDocument/2006/relationships/notesMaster" Target="/ppt/notesMasters/notesMaster1.xml" Id="Ra44dad7111774dd2" /><Relationship Type="http://schemas.openxmlformats.org/officeDocument/2006/relationships/presProps" Target="/ppt/presProps.xml" Id="Rb48683fb48f6457f" /><Relationship Type="http://schemas.openxmlformats.org/officeDocument/2006/relationships/tableStyles" Target="/ppt/tableStyles.xml" Id="R2f5d9dafe0794f5b" /><Relationship Type="http://schemas.openxmlformats.org/officeDocument/2006/relationships/slide" Target="/ppt/slides/slide1.xml" Id="Rb980d1899c4a4f4c" /><Relationship Type="http://schemas.openxmlformats.org/officeDocument/2006/relationships/slide" Target="/ppt/slides/slide2.xml" Id="R601d04bb57bb49ab" /><Relationship Type="http://schemas.openxmlformats.org/officeDocument/2006/relationships/slide" Target="/ppt/slides/slide3.xml" Id="R05b3e8e32bfe4078" /><Relationship Type="http://schemas.openxmlformats.org/officeDocument/2006/relationships/slide" Target="/ppt/slides/slide4.xml" Id="Rbecd4c970ac44866" /><Relationship Type="http://schemas.openxmlformats.org/officeDocument/2006/relationships/slide" Target="/ppt/slides/slide5.xml" Id="R5a1c3ddacd6c4612" /><Relationship Type="http://schemas.openxmlformats.org/officeDocument/2006/relationships/slide" Target="/ppt/slides/slide6.xml" Id="R904f7906da034113" /><Relationship Type="http://schemas.openxmlformats.org/officeDocument/2006/relationships/slide" Target="/ppt/slides/slide7.xml" Id="Rac875ed8250e4a31" /><Relationship Type="http://schemas.openxmlformats.org/officeDocument/2006/relationships/slide" Target="/ppt/slides/slide8.xml" Id="Rd4a02e05b4ac4aa9" /><Relationship Type="http://schemas.openxmlformats.org/officeDocument/2006/relationships/slide" Target="/ppt/slides/slide9.xml" Id="Rcfabb7d606604d78" /><Relationship Type="http://schemas.openxmlformats.org/officeDocument/2006/relationships/slide" Target="/ppt/slides/slide10.xml" Id="R9b9fbda666654a0b" /><Relationship Type="http://schemas.openxmlformats.org/officeDocument/2006/relationships/slide" Target="/ppt/slides/slide11.xml" Id="Refe9b1e4ca6b43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847af5ac714f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6443e3e5ad4328" /><Relationship Type="http://schemas.openxmlformats.org/officeDocument/2006/relationships/notesMaster" Target="/ppt/notesMasters/notesMaster1.xml" Id="R14902b61278b4b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c28f8761504acb" /><Relationship Type="http://schemas.openxmlformats.org/officeDocument/2006/relationships/notesMaster" Target="/ppt/notesMasters/notesMaster1.xml" Id="Rf68f42040d504c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bf8925ca994e38" /><Relationship Type="http://schemas.openxmlformats.org/officeDocument/2006/relationships/notesMaster" Target="/ppt/notesMasters/notesMaster1.xml" Id="R2bfb62e583eb45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e48ac6f4f748a9" /><Relationship Type="http://schemas.openxmlformats.org/officeDocument/2006/relationships/notesMaster" Target="/ppt/notesMasters/notesMaster1.xml" Id="Rc217e8e685e745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c10fdf03b847c7" /><Relationship Type="http://schemas.openxmlformats.org/officeDocument/2006/relationships/notesMaster" Target="/ppt/notesMasters/notesMaster1.xml" Id="R97d05f059b9647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250b7c0bb14018" /><Relationship Type="http://schemas.openxmlformats.org/officeDocument/2006/relationships/notesMaster" Target="/ppt/notesMasters/notesMaster1.xml" Id="R7129f94f510d4a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93f7a0faac4120" /><Relationship Type="http://schemas.openxmlformats.org/officeDocument/2006/relationships/notesMaster" Target="/ppt/notesMasters/notesMaster1.xml" Id="Rf123fcbb70434b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103c6e1a574775" /><Relationship Type="http://schemas.openxmlformats.org/officeDocument/2006/relationships/notesMaster" Target="/ppt/notesMasters/notesMaster1.xml" Id="R30c13d61293f4f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775b027f8a4ad9" /><Relationship Type="http://schemas.openxmlformats.org/officeDocument/2006/relationships/notesMaster" Target="/ppt/notesMasters/notesMaster1.xml" Id="R8ebcfab37c904a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8ebeded1c64e51" /><Relationship Type="http://schemas.openxmlformats.org/officeDocument/2006/relationships/notesMaster" Target="/ppt/notesMasters/notesMaster1.xml" Id="Re20bf8ef1d1a40d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0e3f4010fe4a9d" /><Relationship Type="http://schemas.openxmlformats.org/officeDocument/2006/relationships/notesMaster" Target="/ppt/notesMasters/notesMaster1.xml" Id="R396fc9ff998e41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vision pitch for the AMD Developer Hackathon: ACT III, Health and Wellbeing track. It presents the intended AMD-powered product architecture using synthetic patient information; the product is not clinically validated.</a:t>
            </a:r>
          </a:p>
          <a:p xmlns:a="http://schemas.openxmlformats.org/drawingml/2006/main">
            <a:r>
              <a:t>Sources: https://lablab.ai/ai-hackathons/amd-developer-hackathon-act-iii; repository README.md and TECHSTACK.md.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these as the problem ConsultPrep is designed to address, not as measured findings. No patient or clinician study results are claimed.</a:t>
            </a:r>
          </a:p>
          <a:p xmlns:a="http://schemas.openxmlformats.org/drawingml/2006/main">
            <a:r>
              <a:t>Source: ConsultPrep AI README.md, Overview and Product Philosophy.</a:t>
            </a:r>
          </a:p>
          <a:p xmlns:a="http://schemas.openxmlformats.org/drawingml/2006/main">
            <a:r>
              <a:t>Hackathon brief asks for a real, clearly defined patient or staff need: https://lablab.ai/ai-hackathons/amd-developer-hackathon-act-iii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 organizes patient-reported information into a structured brief with source traceability and human review.</a:t>
            </a:r>
          </a:p>
          <a:p xmlns:a="http://schemas.openxmlformats.org/drawingml/2006/main">
            <a:r>
              <a:t>Source: ConsultPrep AI README.md, Overview, How It Works, and Consultation Brief Structure.</a:t>
            </a:r>
          </a:p>
          <a:p xmlns:a="http://schemas.openxmlformats.org/drawingml/2006/main">
            <a:r>
              <a:t>Track alignment: patient intake, medical record summaries, appointment preparation; https://lablab.ai/ai-hackathons/amd-developer-hackathon-act-iii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synthetic case. It follows the intended patient intake flow from the first concern through a patient-reviewed summary. It is not a real patient record and does not infer a diagnosis.</a:t>
            </a:r>
          </a:p>
          <a:p xmlns:a="http://schemas.openxmlformats.org/drawingml/2006/main">
            <a:r>
              <a:t>Source: repository brief and intake-facts implementation; hackathon track: https://lablab.ai/ai-hackathons/amd-developer-hackathon-act-iii.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case content. The example shows source-linked fields and a specific denial without turning it into “no symptoms”.</a:t>
            </a:r>
          </a:p>
          <a:p xmlns:a="http://schemas.openxmlformats.org/drawingml/2006/main">
            <a:r>
              <a:t>Source: ConsultPrep AI README.md, Consultation Brief Structure and information-state principles.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Health and Wellbeing track prohibits autonomous diagnosis/treatment presented as medical advice and asks teams to explain handling of unsupported responses, sensitive information, uncertainty, high-risk decisions, and human review.</a:t>
            </a:r>
          </a:p>
          <a:p xmlns:a="http://schemas.openxmlformats.org/drawingml/2006/main">
            <a:r>
              <a:t>The repository describes urgent-symptom interruption and clinician review as design requirements; full persistence and clinical validation are not implemented.</a:t>
            </a:r>
          </a:p>
          <a:p xmlns:a="http://schemas.openxmlformats.org/drawingml/2006/main">
            <a:r>
              <a:t>Sources: https://lablab.ai/ai-hackathons/amd-developer-hackathon-act-iii and ConsultPrep AI README.md, Safety and Limitations / Current implementation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presents the final product vision: AMD-powered inference guides the intake conversation and helps prepare a patient-reviewed, source-linked consultation summary. The current repository implementation is not yet connected to AMD inference; keep this deck framed as the intended final product until the integration is verified.</a:t>
            </a:r>
          </a:p>
          <a:p xmlns:a="http://schemas.openxmlformats.org/drawingml/2006/main">
            <a:r>
              <a:t>Hackathon track source: https://lablab.ai/ai-hackathons/amd-developer-hackathon-act-iii. Repository source: README.md, backend/api/INTEGRATION.md, TECHSTACK.md.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Business value is a hypothesis, not a proven outcome. Metrics are proposed validation measures from the project’s development and safety requirements; do not present results until measured.</a:t>
            </a:r>
          </a:p>
          <a:p xmlns:a="http://schemas.openxmlformats.org/drawingml/2006/main">
            <a:r>
              <a:t>Source: ConsultPrep AI README.md, Product Philosophy / Safety and Limitations; hackathon Health and Wellbeing track asks for measurable improvement in time, accuracy, accessibility, or workload.</a:t>
            </a:r>
          </a:p>
          <a:p xmlns:a="http://schemas.openxmlformats.org/drawingml/2006/main">
            <a:r>
              <a:t>Hackathon page: https://lablab.ai/ai-hackathons/amd-developer-hackathon-act-iii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show the patient intake home and an active consultation using synthetic information, not a real patient record. The final product vision includes clinician review of the generated summary.</a:t>
            </a:r>
          </a:p>
          <a:p xmlns:a="http://schemas.openxmlformats.org/drawingml/2006/main">
            <a:r>
              <a:t>Screenshot source: user-provided app captures from October 17,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screenshot shows the ConsultPrep AI conversation interface with synthetic patient information, not a real patient record. It illustrates the intended patient-facing product experience.</a:t>
            </a:r>
          </a:p>
          <a:p xmlns:a="http://schemas.openxmlformats.org/drawingml/2006/main">
            <a:r>
              <a:t>Screenshot source: user-provided app capture from October 17,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Roles and contributions are based on team member descriptions and repository history. Austin led the intake engine and designed the intended conversation workflow around AMD-powered inference.</a:t>
            </a:r>
          </a:p>
          <a:p xmlns:a="http://schemas.openxmlformats.org/drawingml/2006/main">
            <a:r>
              <a:t>Sources: DEV1.md, DEV2.md, DEV3.md, README.md, backend/api/INTEGRATION.md, and repository commit history.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3ce6dc2af447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6408c0426f45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02e920d2064a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c9042a5e2b40d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fd48fddc9743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cc03bce87e45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6E251A-5F26-47B3-984D-05211A5CB4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7DE646B-1336-432A-8681-AD1EEDAA0D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21C348-5413-428A-9172-FF50DD0387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206817-3276-40EB-8CAF-7D5067DB3D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359DA71-518C-437D-91CF-719C1FC7CD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E24893F-E263-4161-81C6-B996C0513C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CA1A25-027E-4F98-99E4-A779CEE3A2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D963151-148C-4459-A866-22A45AEDE2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AA7700-6B43-4C3D-8E5D-85BB35FC7C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BAF6C8-647A-482C-975C-633B75ACC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15f13216d3436b" /><Relationship Type="http://schemas.openxmlformats.org/officeDocument/2006/relationships/slideLayout" Target="/ppt/slideLayouts/slideLayout1.xml" Id="Rc35c4c0297304f78" /><Relationship Type="http://schemas.openxmlformats.org/officeDocument/2006/relationships/slideLayout" Target="/ppt/slideLayouts/slideLayout2.xml" Id="R908d30f24739433e" /><Relationship Type="http://schemas.openxmlformats.org/officeDocument/2006/relationships/slideLayout" Target="/ppt/slideLayouts/slideLayout3.xml" Id="R8e01b89ebb594060" /><Relationship Type="http://schemas.openxmlformats.org/officeDocument/2006/relationships/slideLayout" Target="/ppt/slideLayouts/slideLayout4.xml" Id="R925754b1efae42ef" /><Relationship Type="http://schemas.openxmlformats.org/officeDocument/2006/relationships/slideLayout" Target="/ppt/slideLayouts/slideLayout5.xml" Id="R3f9274f70c204494" /><Relationship Type="http://schemas.openxmlformats.org/officeDocument/2006/relationships/slideLayout" Target="/ppt/slideLayouts/slideLayout6.xml" Id="Rc546014ab36146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5c4c0297304f78"/>
    <p:sldLayoutId xmlns:r="http://schemas.openxmlformats.org/officeDocument/2006/relationships" id="2147483650" r:id="R908d30f24739433e"/>
    <p:sldLayoutId xmlns:r="http://schemas.openxmlformats.org/officeDocument/2006/relationships" id="2147483651" r:id="R8e01b89ebb594060"/>
    <p:sldLayoutId xmlns:r="http://schemas.openxmlformats.org/officeDocument/2006/relationships" id="2147483652" r:id="R925754b1efae42ef"/>
    <p:sldLayoutId xmlns:r="http://schemas.openxmlformats.org/officeDocument/2006/relationships" id="2147483653" r:id="R3f9274f70c204494"/>
    <p:sldLayoutId xmlns:r="http://schemas.openxmlformats.org/officeDocument/2006/relationships" id="2147483654" r:id="Rc546014ab36146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1ea07c07a544c9" /><Relationship Type="http://schemas.openxmlformats.org/officeDocument/2006/relationships/notesSlide" Target="/ppt/notesSlides/notesSlide1.xml" Id="R9d44969d6a3d47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a9bfde2841406c" /><Relationship Type="http://schemas.openxmlformats.org/officeDocument/2006/relationships/notesSlide" Target="/ppt/notesSlides/notesSlide2.xml" Id="R2fb440cc36c342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68ae4662c548ba" /><Relationship Type="http://schemas.openxmlformats.org/officeDocument/2006/relationships/notesSlide" Target="/ppt/notesSlides/notesSlide3.xml" Id="Rc22c350fca6441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f6dd964cf844fa" /><Relationship Type="http://schemas.openxmlformats.org/officeDocument/2006/relationships/notesSlide" Target="/ppt/notesSlides/notesSlide4.xml" Id="R48e7482564fc44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b354c9182b4244" /><Relationship Type="http://schemas.openxmlformats.org/officeDocument/2006/relationships/notesSlide" Target="/ppt/notesSlides/notesSlide5.xml" Id="Rff45333948f143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9b465674834f83" /><Relationship Type="http://schemas.openxmlformats.org/officeDocument/2006/relationships/notesSlide" Target="/ppt/notesSlides/notesSlide6.xml" Id="Raf06dec7f7bf4c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22e920a99643ba" /><Relationship Type="http://schemas.openxmlformats.org/officeDocument/2006/relationships/notesSlide" Target="/ppt/notesSlides/notesSlide7.xml" Id="R728ce9ef6bbb4f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6e87b538a44831" /><Relationship Type="http://schemas.openxmlformats.org/officeDocument/2006/relationships/notesSlide" Target="/ppt/notesSlides/notesSlide8.xml" Id="Rbafa8fd48b6b47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64e65fa0b04031" /><Relationship Type="http://schemas.openxmlformats.org/officeDocument/2006/relationships/image" Target="/ppt/media/image.png" Id="R999cde569d524f94" /><Relationship Type="http://schemas.openxmlformats.org/officeDocument/2006/relationships/notesSlide" Target="/ppt/notesSlides/notesSlide9.xml" Id="Rceb1cde39d264f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6c983c739e4e74" /><Relationship Type="http://schemas.openxmlformats.org/officeDocument/2006/relationships/image" Target="/ppt/media/image2.png" Id="R5f808748a92e46d8" /><Relationship Type="http://schemas.openxmlformats.org/officeDocument/2006/relationships/notesSlide" Target="/ppt/notesSlides/notesSlide10.xml" Id="Rd3e2539a3bb243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30c33583a1403f" /><Relationship Type="http://schemas.openxmlformats.org/officeDocument/2006/relationships/notesSlide" Target="/ppt/notesSlides/notesSlide11.xml" Id="Ra24f1df739ea4b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band">
            <a:extLst xmlns:a="http://schemas.openxmlformats.org/drawingml/2006/main">
              <a:ext uri="{FF2B5EF4-FFF2-40B4-BE49-F238E27FC236}">
                <a16:creationId xmlns:a16="http://schemas.microsoft.com/office/drawing/2014/main" id="{2FD0D7C6-3FDA-4A25-8B03-2FF5C719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mark">
            <a:extLst xmlns:a="http://schemas.openxmlformats.org/drawingml/2006/main">
              <a:ext uri="{FF2B5EF4-FFF2-40B4-BE49-F238E27FC236}">
                <a16:creationId xmlns:a16="http://schemas.microsoft.com/office/drawing/2014/main" id="{09271086-86B1-4938-B418-AE59E927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552450" cy="552450"/>
          </a:xfrm>
          <a:prstGeom xmlns:a="http://schemas.openxmlformats.org/drawingml/2006/main" prst="roundRect">
            <a:avLst>
              <a:gd name="adj" fmla="val 25862"/>
            </a:avLst>
          </a:prstGeom>
          <a:solidFill xmlns:a="http://schemas.openxmlformats.org/drawingml/2006/main">
            <a:srgbClr val="256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and-letter">
            <a:extLst xmlns:a="http://schemas.openxmlformats.org/drawingml/2006/main">
              <a:ext uri="{FF2B5EF4-FFF2-40B4-BE49-F238E27FC236}">
                <a16:creationId xmlns:a16="http://schemas.microsoft.com/office/drawing/2014/main" id="{2643750D-8B52-4DB6-BB49-2E510EEF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4" name="brand-name">
            <a:extLst xmlns:a="http://schemas.openxmlformats.org/drawingml/2006/main">
              <a:ext uri="{FF2B5EF4-FFF2-40B4-BE49-F238E27FC236}">
                <a16:creationId xmlns:a16="http://schemas.microsoft.com/office/drawing/2014/main" id="{249ABBCD-C5F5-405E-A491-30E089F3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001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8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8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8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8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8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8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8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8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8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ConsultPrep AI</a:t>
            </a:r>
          </a:p>
        </p:txBody>
      </p:sp>
      <p:sp>
        <p:nvSpPr>
          <p:cNvPr id="5" name="event-label">
            <a:extLst xmlns:a="http://schemas.openxmlformats.org/drawingml/2006/main">
              <a:ext uri="{FF2B5EF4-FFF2-40B4-BE49-F238E27FC236}">
                <a16:creationId xmlns:a16="http://schemas.microsoft.com/office/drawing/2014/main" id="{6F1DF924-69C0-4DB4-992B-A03C8C0B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20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20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20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20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20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20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20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20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20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rPr>
              <a:t>AMD DEVELOPER HACKATHON · HEALTH &amp; WELLBEING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6865E3D-CAFF-4CA2-B73A-9EB4F5F0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819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43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43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43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43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43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43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43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43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43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AI documents.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Clinicians decide.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F630A63-DD1C-4CE4-8A3E-5DF79E41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20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20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20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20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20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20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20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20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20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A patient intake conversation becomes a clear, reviewable consultation brief.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65117-97E4-44A9-B8BD-C191A253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53125"/>
            <a:ext cx="782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44"/>
            </a:solidFill>
            <a:prstDash val="solid"/>
          </a:ln>
        </p:spPr>
      </p:sp>
      <p:sp>
        <p:nvSpPr>
          <p:cNvPr id="9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27F6D307-AEC1-4C75-B7A3-DC686B10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1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1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1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1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1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1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1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1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1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Product vision · Synthetic case example · Not clinically validated</a:t>
            </a:r>
          </a:p>
        </p:txBody>
      </p:sp>
    </p:spTree>
    <p:extLst>
      <p:ext uri="{BB962C8B-B14F-4D97-AF65-F5344CB8AC3E}">
        <p14:creationId xmlns:p14="http://schemas.microsoft.com/office/powerpoint/2010/main" val="4489858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2">
            <a:extLst xmlns:a="http://schemas.openxmlformats.org/drawingml/2006/main">
              <a:ext uri="{FF2B5EF4-FFF2-40B4-BE49-F238E27FC236}">
                <a16:creationId xmlns:a16="http://schemas.microsoft.com/office/drawing/2014/main" id="{FBBF79B6-3F59-4B4E-8591-4916EB5E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B62B1871-7C0E-4A09-9B3A-09083667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A patient’s story arrives in pieces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25ECC-75AE-4DAB-B38C-211F66AA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9"/>
            </a:solidFill>
            <a:prstDash val="solid"/>
          </a:ln>
        </p:spPr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8739DCD4-021A-41EB-82B6-03F80C74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ConsultPrep AI  ·  AI documents. Clinicians decide.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2EE64762-5019-437C-BD2B-35C6ED61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912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F3343993-246B-44C7-9CFC-6928055E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00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73"/>
          </a:bodyPr>
          <a:lstStyle xmlns:a="http://schemas.openxmlformats.org/drawingml/2006/main">
            <a:defPPr algn="l">
              <a:defRPr sz="23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23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23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23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23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23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23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23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23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23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A visit can begin with a difficult task: remembering what happened, when it started, and what changed.</a:t>
            </a:r>
          </a:p>
        </p:txBody>
      </p:sp>
      <p:sp>
        <p:nvSpPr>
          <p:cNvPr id="7" name="problem-number-0">
            <a:extLst xmlns:a="http://schemas.openxmlformats.org/drawingml/2006/main">
              <a:ext uri="{FF2B5EF4-FFF2-40B4-BE49-F238E27FC236}">
                <a16:creationId xmlns:a16="http://schemas.microsoft.com/office/drawing/2014/main" id="{15DEB2D9-B968-42CF-A03A-F584B735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AE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problem-heading-0">
            <a:extLst xmlns:a="http://schemas.openxmlformats.org/drawingml/2006/main">
              <a:ext uri="{FF2B5EF4-FFF2-40B4-BE49-F238E27FC236}">
                <a16:creationId xmlns:a16="http://schemas.microsoft.com/office/drawing/2014/main" id="{86783A65-AFB3-4F08-A20A-7FD65FB7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Details are scattered</a:t>
            </a:r>
          </a:p>
        </p:txBody>
      </p:sp>
      <p:sp>
        <p:nvSpPr>
          <p:cNvPr id="9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4568B62B-1F51-415D-A6BE-6B799024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Symptoms, timing, and context emerge across a conversation—not in a neat form.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41D45-D861-4A72-8E4F-7025D774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81425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9"/>
            </a:solidFill>
            <a:prstDash val="solid"/>
          </a:ln>
        </p:spPr>
      </p:sp>
      <p:sp>
        <p:nvSpPr>
          <p:cNvPr id="11" name="problem-number-1">
            <a:extLst xmlns:a="http://schemas.openxmlformats.org/drawingml/2006/main">
              <a:ext uri="{FF2B5EF4-FFF2-40B4-BE49-F238E27FC236}">
                <a16:creationId xmlns:a16="http://schemas.microsoft.com/office/drawing/2014/main" id="{DE4BC08B-203A-4C30-834C-9E19FFF8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AE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problem-heading-1">
            <a:extLst xmlns:a="http://schemas.openxmlformats.org/drawingml/2006/main">
              <a:ext uri="{FF2B5EF4-FFF2-40B4-BE49-F238E27FC236}">
                <a16:creationId xmlns:a16="http://schemas.microsoft.com/office/drawing/2014/main" id="{A5DF7332-4E36-4F65-9BC4-52C7A9EB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2907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Clarification takes effort</a:t>
            </a:r>
          </a:p>
        </p:txBody>
      </p:sp>
      <p:sp>
        <p:nvSpPr>
          <p:cNvPr id="13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075B7966-1C09-4B16-8A34-387C5EA6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386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Patients may repeat themselves or struggle to describe what they mean.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E70CE-12FA-4416-AFD4-6A321D03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76775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9"/>
            </a:solidFill>
            <a:prstDash val="solid"/>
          </a:ln>
        </p:spPr>
      </p:sp>
      <p:sp>
        <p:nvSpPr>
          <p:cNvPr id="15" name="problem-number-2">
            <a:extLst xmlns:a="http://schemas.openxmlformats.org/drawingml/2006/main">
              <a:ext uri="{FF2B5EF4-FFF2-40B4-BE49-F238E27FC236}">
                <a16:creationId xmlns:a16="http://schemas.microsoft.com/office/drawing/2014/main" id="{4124B12B-533E-409E-971A-F37164FD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problem-heading-2">
            <a:extLst xmlns:a="http://schemas.openxmlformats.org/drawingml/2006/main">
              <a:ext uri="{FF2B5EF4-FFF2-40B4-BE49-F238E27FC236}">
                <a16:creationId xmlns:a16="http://schemas.microsoft.com/office/drawing/2014/main" id="{5921EAF5-4ED3-4AD2-B194-D7F03457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244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Clinicians need the context</a:t>
            </a:r>
          </a:p>
        </p:txBody>
      </p:sp>
      <p:sp>
        <p:nvSpPr>
          <p:cNvPr id="17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4C72EACD-7DE7-4AC8-9BC8-938C595F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3395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A useful handoff should separate what was said from what remains uncertain.</a:t>
            </a:r>
          </a:p>
        </p:txBody>
      </p:sp>
    </p:spTree>
    <p:extLst>
      <p:ext uri="{BB962C8B-B14F-4D97-AF65-F5344CB8AC3E}">
        <p14:creationId xmlns:p14="http://schemas.microsoft.com/office/powerpoint/2010/main" val="8978813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61C16065-93E3-461D-90B8-4E4D011C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rPr>
              <a:t>THE PRODUCT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D6FF0241-53BC-4AC6-B889-EEC839C9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A focused conversation, then a clinician-ready draft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2F68D-D73E-4B15-9CEE-8C1A2E8F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9"/>
            </a:solidFill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F33CBF79-7F08-4931-8C55-1DF69668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ConsultPrep AI  ·  AI documents. Clinicians decide.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D286DD26-B6AE-41DF-933E-5F4D96C7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912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product-statement">
            <a:extLst xmlns:a="http://schemas.openxmlformats.org/drawingml/2006/main">
              <a:ext uri="{FF2B5EF4-FFF2-40B4-BE49-F238E27FC236}">
                <a16:creationId xmlns:a16="http://schemas.microsoft.com/office/drawing/2014/main" id="{D1E4BE99-5B33-403D-AFAE-4E15BC3E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95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021"/>
          </a:bodyPr>
          <a:lstStyle xmlns:a="http://schemas.openxmlformats.org/drawingml/2006/main">
            <a:defPPr algn="l">
              <a:defRPr sz="22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22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22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22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22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22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22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22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22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22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ConsultPrep helps patients organize what they want to discuss—without making the clinical decision.</a:t>
            </a:r>
          </a:p>
        </p:txBody>
      </p:sp>
      <p:sp>
        <p:nvSpPr>
          <p:cNvPr id="7" name="product-n-0">
            <a:extLst xmlns:a="http://schemas.openxmlformats.org/drawingml/2006/main">
              <a:ext uri="{FF2B5EF4-FFF2-40B4-BE49-F238E27FC236}">
                <a16:creationId xmlns:a16="http://schemas.microsoft.com/office/drawing/2014/main" id="{3A2F2037-5141-401C-B118-8CB8E35A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C622D-CE3E-41D1-B124-8DE456A9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623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44"/>
            </a:solidFill>
            <a:prstDash val="solid"/>
          </a:ln>
        </p:spPr>
      </p:sp>
      <p:sp>
        <p:nvSpPr>
          <p:cNvPr id="9" name="product-title-0">
            <a:extLst xmlns:a="http://schemas.openxmlformats.org/drawingml/2006/main">
              <a:ext uri="{FF2B5EF4-FFF2-40B4-BE49-F238E27FC236}">
                <a16:creationId xmlns:a16="http://schemas.microsoft.com/office/drawing/2014/main" id="{4515C59C-D287-45DF-AA39-266DE59B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Listen</a:t>
            </a:r>
          </a:p>
        </p:txBody>
      </p:sp>
      <p:sp>
        <p:nvSpPr>
          <p:cNvPr id="10" name="product-body-0">
            <a:extLst xmlns:a="http://schemas.openxmlformats.org/drawingml/2006/main">
              <a:ext uri="{FF2B5EF4-FFF2-40B4-BE49-F238E27FC236}">
                <a16:creationId xmlns:a16="http://schemas.microsoft.com/office/drawing/2014/main" id="{726EFC44-5E1B-42F1-A42C-CD407D31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Collect the patient’s own words through a short, adaptive intake.</a:t>
            </a:r>
          </a:p>
        </p:txBody>
      </p:sp>
      <p:sp>
        <p:nvSpPr>
          <p:cNvPr id="11" name="product-n-1">
            <a:extLst xmlns:a="http://schemas.openxmlformats.org/drawingml/2006/main">
              <a:ext uri="{FF2B5EF4-FFF2-40B4-BE49-F238E27FC236}">
                <a16:creationId xmlns:a16="http://schemas.microsoft.com/office/drawing/2014/main" id="{B7C32BAB-5B4F-4D4D-937F-B3ACA15F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F9FEE0-AF8B-49DB-ACBE-D1EEB0D9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623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44"/>
            </a:solidFill>
            <a:prstDash val="solid"/>
          </a:ln>
        </p:spPr>
      </p:sp>
      <p:sp>
        <p:nvSpPr>
          <p:cNvPr id="13" name="product-title-1">
            <a:extLst xmlns:a="http://schemas.openxmlformats.org/drawingml/2006/main">
              <a:ext uri="{FF2B5EF4-FFF2-40B4-BE49-F238E27FC236}">
                <a16:creationId xmlns:a16="http://schemas.microsoft.com/office/drawing/2014/main" id="{F959B645-D75F-4719-9379-4E40A83C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004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Organize</a:t>
            </a:r>
          </a:p>
        </p:txBody>
      </p:sp>
      <p:sp>
        <p:nvSpPr>
          <p:cNvPr id="14" name="product-body-1">
            <a:extLst xmlns:a="http://schemas.openxmlformats.org/drawingml/2006/main">
              <a:ext uri="{FF2B5EF4-FFF2-40B4-BE49-F238E27FC236}">
                <a16:creationId xmlns:a16="http://schemas.microsoft.com/office/drawing/2014/main" id="{A5172319-E876-4D7D-B8BA-70DA4AF6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5290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Structure symptoms, timing, context, and unanswered questions.</a:t>
            </a:r>
          </a:p>
        </p:txBody>
      </p:sp>
      <p:sp>
        <p:nvSpPr>
          <p:cNvPr id="15" name="product-n-2">
            <a:extLst xmlns:a="http://schemas.openxmlformats.org/drawingml/2006/main">
              <a:ext uri="{FF2B5EF4-FFF2-40B4-BE49-F238E27FC236}">
                <a16:creationId xmlns:a16="http://schemas.microsoft.com/office/drawing/2014/main" id="{0D346835-EC49-4255-A85B-DE9AB333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7AB82E-77D1-4DE0-B542-34B49E41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623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44"/>
            </a:solidFill>
            <a:prstDash val="solid"/>
          </a:ln>
        </p:spPr>
      </p:sp>
      <p:sp>
        <p:nvSpPr>
          <p:cNvPr id="17" name="product-title-2">
            <a:extLst xmlns:a="http://schemas.openxmlformats.org/drawingml/2006/main">
              <a:ext uri="{FF2B5EF4-FFF2-40B4-BE49-F238E27FC236}">
                <a16:creationId xmlns:a16="http://schemas.microsoft.com/office/drawing/2014/main" id="{73BD47A5-C753-4D5A-B8EF-91DBCFD6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004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18" name="product-body-2">
            <a:extLst xmlns:a="http://schemas.openxmlformats.org/drawingml/2006/main">
              <a:ext uri="{FF2B5EF4-FFF2-40B4-BE49-F238E27FC236}">
                <a16:creationId xmlns:a16="http://schemas.microsoft.com/office/drawing/2014/main" id="{0F3280EC-4091-41DA-99F4-DCA93DC2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5290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Let the patient correct the draft before a clinician assesses it.</a:t>
            </a:r>
          </a:p>
        </p:txBody>
      </p:sp>
      <p:sp>
        <p:nvSpPr>
          <p:cNvPr id="19" name="product-principle">
            <a:extLst xmlns:a="http://schemas.openxmlformats.org/drawingml/2006/main">
              <a:ext uri="{FF2B5EF4-FFF2-40B4-BE49-F238E27FC236}">
                <a16:creationId xmlns:a16="http://schemas.microsoft.com/office/drawing/2014/main" id="{F0288FCE-788F-49B3-B108-36F8B013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875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875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875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875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875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875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875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875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875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rPr>
              <a:t>AI documents. Clinicians decide.</a:t>
            </a:r>
          </a:p>
        </p:txBody>
      </p:sp>
    </p:spTree>
    <p:extLst>
      <p:ext uri="{BB962C8B-B14F-4D97-AF65-F5344CB8AC3E}">
        <p14:creationId xmlns:p14="http://schemas.microsoft.com/office/powerpoint/2010/main" val="13522493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4">
            <a:extLst xmlns:a="http://schemas.openxmlformats.org/drawingml/2006/main">
              <a:ext uri="{FF2B5EF4-FFF2-40B4-BE49-F238E27FC236}">
                <a16:creationId xmlns:a16="http://schemas.microsoft.com/office/drawing/2014/main" id="{1970005A-0D59-4EA5-B104-3D492C1A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rPr>
              <a:t>PATIENT INTAKE · SYNTHETIC CASE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6F3CBF6D-78CD-4B3C-9CA6-2CA75B49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One conversation. A traceable brief.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A8A75-9EF2-45A3-973D-306CB6EE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9"/>
            </a:solidFill>
            <a:prstDash val="solid"/>
          </a:ln>
        </p:spPr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E305A0AC-41CD-4EC8-A6E5-5B526B27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ConsultPrep AI  ·  AI documents. Clinicians decide.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8ACF13A7-54AD-4E08-A524-B48E6362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912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1B77E-6F02-4B99-A462-AFF213CB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143125"/>
            <a:ext cx="0" cy="3076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E0D9"/>
            </a:solidFill>
            <a:prstDash val="solid"/>
          </a:ln>
        </p:spPr>
      </p:sp>
      <p:sp>
        <p:nvSpPr>
          <p:cNvPr id="7" name="flow-node-0">
            <a:extLst xmlns:a="http://schemas.openxmlformats.org/drawingml/2006/main">
              <a:ext uri="{FF2B5EF4-FFF2-40B4-BE49-F238E27FC236}">
                <a16:creationId xmlns:a16="http://schemas.microsoft.com/office/drawing/2014/main" id="{D9B8DA2D-F997-4FE1-A7B3-8FE9F642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36067531-D0BF-4EAB-B343-967FF3B8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0975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Patient starts in their own words</a:t>
            </a:r>
          </a:p>
        </p:txBody>
      </p:sp>
      <p:sp>
        <p:nvSpPr>
          <p:cNvPr id="9" name="flow-detail-0">
            <a:extLst xmlns:a="http://schemas.openxmlformats.org/drawingml/2006/main">
              <a:ext uri="{FF2B5EF4-FFF2-40B4-BE49-F238E27FC236}">
                <a16:creationId xmlns:a16="http://schemas.microsoft.com/office/drawing/2014/main" id="{0FC36A81-C270-4654-808D-79D4B1F4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19275"/>
            <a:ext cx="4905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“I’ve had a mild scratchy sore throat and a runny nose since yesterday.”</a:t>
            </a:r>
          </a:p>
        </p:txBody>
      </p:sp>
      <p:sp>
        <p:nvSpPr>
          <p:cNvPr id="10" name="flow-node-1">
            <a:extLst xmlns:a="http://schemas.openxmlformats.org/drawingml/2006/main">
              <a:ext uri="{FF2B5EF4-FFF2-40B4-BE49-F238E27FC236}">
                <a16:creationId xmlns:a16="http://schemas.microsoft.com/office/drawing/2014/main" id="{610EC03B-A37F-4AA4-BE65-6DF17EA6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F38565D6-03EB-4D7A-A462-301C73F7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3845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ConsultPrep asks a focused follow-up</a:t>
            </a:r>
          </a:p>
        </p:txBody>
      </p:sp>
      <p:sp>
        <p:nvSpPr>
          <p:cNvPr id="12" name="flow-detail-1">
            <a:extLst xmlns:a="http://schemas.openxmlformats.org/drawingml/2006/main">
              <a:ext uri="{FF2B5EF4-FFF2-40B4-BE49-F238E27FC236}">
                <a16:creationId xmlns:a16="http://schemas.microsoft.com/office/drawing/2014/main" id="{0FF085CB-0C4C-425A-9FDF-FF64D60A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47975"/>
            <a:ext cx="4905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“Have you noticed any ear symptoms?”</a:t>
            </a:r>
          </a:p>
        </p:txBody>
      </p:sp>
      <p:sp>
        <p:nvSpPr>
          <p:cNvPr id="13" name="flow-node-2">
            <a:extLst xmlns:a="http://schemas.openxmlformats.org/drawingml/2006/main">
              <a:ext uri="{FF2B5EF4-FFF2-40B4-BE49-F238E27FC236}">
                <a16:creationId xmlns:a16="http://schemas.microsoft.com/office/drawing/2014/main" id="{04EFA12F-1224-46E8-AE0A-2BE9E71A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7F39E6C2-14F3-449B-AE6B-37B9CA89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6715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Patient clarifies and adds context</a:t>
            </a:r>
          </a:p>
        </p:txBody>
      </p:sp>
      <p:sp>
        <p:nvSpPr>
          <p:cNvPr id="15" name="flow-detail-2">
            <a:extLst xmlns:a="http://schemas.openxmlformats.org/drawingml/2006/main">
              <a:ext uri="{FF2B5EF4-FFF2-40B4-BE49-F238E27FC236}">
                <a16:creationId xmlns:a16="http://schemas.microsoft.com/office/drawing/2014/main" id="{5FCB6E88-6EA6-4BC4-90D3-916A1CC1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76675"/>
            <a:ext cx="4905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“I haven’t noticed any ear symptoms. No, that’s all.”</a:t>
            </a:r>
          </a:p>
        </p:txBody>
      </p:sp>
      <p:sp>
        <p:nvSpPr>
          <p:cNvPr id="16" name="flow-node-3">
            <a:extLst xmlns:a="http://schemas.openxmlformats.org/drawingml/2006/main">
              <a:ext uri="{FF2B5EF4-FFF2-40B4-BE49-F238E27FC236}">
                <a16:creationId xmlns:a16="http://schemas.microsoft.com/office/drawing/2014/main" id="{1E7B63CA-8C2E-4ABF-BB06-AB1BCB0C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F05EC032-7A5E-45BE-8A70-AC012C37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9585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A draft appears for patient review</a:t>
            </a:r>
          </a:p>
        </p:txBody>
      </p:sp>
      <p:sp>
        <p:nvSpPr>
          <p:cNvPr id="18" name="flow-detail-3">
            <a:extLst xmlns:a="http://schemas.openxmlformats.org/drawingml/2006/main">
              <a:ext uri="{FF2B5EF4-FFF2-40B4-BE49-F238E27FC236}">
                <a16:creationId xmlns:a16="http://schemas.microsoft.com/office/drawing/2014/main" id="{3D260B41-69E3-4447-9A8E-D5E84252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05375"/>
            <a:ext cx="4905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Symptoms, timing, and the scoped ear detail—with no invented diagnosis.</a:t>
            </a:r>
          </a:p>
        </p:txBody>
      </p:sp>
    </p:spTree>
    <p:extLst>
      <p:ext uri="{BB962C8B-B14F-4D97-AF65-F5344CB8AC3E}">
        <p14:creationId xmlns:p14="http://schemas.microsoft.com/office/powerpoint/2010/main" val="2988026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5">
            <a:extLst xmlns:a="http://schemas.openxmlformats.org/drawingml/2006/main">
              <a:ext uri="{FF2B5EF4-FFF2-40B4-BE49-F238E27FC236}">
                <a16:creationId xmlns:a16="http://schemas.microsoft.com/office/drawing/2014/main" id="{4652CAA4-2A26-4D12-9195-254F4637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rPr>
              <a:t>A BETTER HANDOFF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521D63C6-0D59-4C76-8AF5-02BD86CE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The brief keeps what was said—and what wasn’t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433ED-9D86-4A80-BA93-ACD048EE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9"/>
            </a:solidFill>
            <a:prstDash val="solid"/>
          </a:ln>
        </p:spPr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6DB464FC-BC97-4219-B215-681ACCF9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ConsultPrep AI  ·  AI documents. Clinicians decide.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01939565-E33F-4A8E-A6E7-F23110BD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912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brief-intro">
            <a:extLst xmlns:a="http://schemas.openxmlformats.org/drawingml/2006/main">
              <a:ext uri="{FF2B5EF4-FFF2-40B4-BE49-F238E27FC236}">
                <a16:creationId xmlns:a16="http://schemas.microsoft.com/office/drawing/2014/main" id="{C92540CC-E6D6-4B37-869D-C4312542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343"/>
          </a:bodyPr>
          <a:lstStyle xmlns:a="http://schemas.openxmlformats.org/drawingml/2006/main">
            <a:defPPr algn="l">
              <a:defRPr sz="20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20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20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20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20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20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20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20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20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20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A readable summary should help the clinician start with the patient’s account, not an AI conclusion.</a:t>
            </a:r>
          </a:p>
        </p:txBody>
      </p:sp>
      <p:sp>
        <p:nvSpPr>
          <p:cNvPr id="7" name="brief-label-0">
            <a:extLst xmlns:a="http://schemas.openxmlformats.org/drawingml/2006/main">
              <a:ext uri="{FF2B5EF4-FFF2-40B4-BE49-F238E27FC236}">
                <a16:creationId xmlns:a16="http://schemas.microsoft.com/office/drawing/2014/main" id="{9101438D-CF08-4832-BD22-B62D8F98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rPr>
              <a:t>REASON</a:t>
            </a:r>
          </a:p>
        </p:txBody>
      </p:sp>
      <p:sp>
        <p:nvSpPr>
          <p:cNvPr id="8" name="brief-value-0">
            <a:extLst xmlns:a="http://schemas.openxmlformats.org/drawingml/2006/main">
              <a:ext uri="{FF2B5EF4-FFF2-40B4-BE49-F238E27FC236}">
                <a16:creationId xmlns:a16="http://schemas.microsoft.com/office/drawing/2014/main" id="{9A7C6ED7-1AAA-4290-87E9-393724C9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9080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72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72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72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72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72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72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72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72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72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Sore throat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80625-F72F-4EB1-B745-EFC1452A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9"/>
            </a:solidFill>
            <a:prstDash val="solid"/>
          </a:ln>
        </p:spPr>
      </p:sp>
      <p:sp>
        <p:nvSpPr>
          <p:cNvPr id="10" name="brief-label-1">
            <a:extLst xmlns:a="http://schemas.openxmlformats.org/drawingml/2006/main">
              <a:ext uri="{FF2B5EF4-FFF2-40B4-BE49-F238E27FC236}">
                <a16:creationId xmlns:a16="http://schemas.microsoft.com/office/drawing/2014/main" id="{7E42F17D-46AC-4336-828A-3FE77A9D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480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rPr>
              <a:t>SYMPTOMS</a:t>
            </a:r>
          </a:p>
        </p:txBody>
      </p:sp>
      <p:sp>
        <p:nvSpPr>
          <p:cNvPr id="11" name="brief-value-1">
            <a:extLst xmlns:a="http://schemas.openxmlformats.org/drawingml/2006/main">
              <a:ext uri="{FF2B5EF4-FFF2-40B4-BE49-F238E27FC236}">
                <a16:creationId xmlns:a16="http://schemas.microsoft.com/office/drawing/2014/main" id="{A9B5EC77-391D-4313-85BE-85204795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194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Sore throat · Runny nose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9B5D8-F884-44AE-B90A-459EF493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9"/>
            </a:solidFill>
            <a:prstDash val="solid"/>
          </a:ln>
        </p:spPr>
      </p:sp>
      <p:sp>
        <p:nvSpPr>
          <p:cNvPr id="13" name="brief-label-2">
            <a:extLst xmlns:a="http://schemas.openxmlformats.org/drawingml/2006/main">
              <a:ext uri="{FF2B5EF4-FFF2-40B4-BE49-F238E27FC236}">
                <a16:creationId xmlns:a16="http://schemas.microsoft.com/office/drawing/2014/main" id="{F15ECEAA-A447-432B-8E47-E3AA8FD6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66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rPr>
              <a:t>TIMELINE</a:t>
            </a:r>
          </a:p>
        </p:txBody>
      </p:sp>
      <p:sp>
        <p:nvSpPr>
          <p:cNvPr id="14" name="brief-value-2">
            <a:extLst xmlns:a="http://schemas.openxmlformats.org/drawingml/2006/main">
              <a:ext uri="{FF2B5EF4-FFF2-40B4-BE49-F238E27FC236}">
                <a16:creationId xmlns:a16="http://schemas.microsoft.com/office/drawing/2014/main" id="{ACA110EA-E98E-41E4-9708-23FD0C3D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4810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Both began yesterday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BBC5A0-6B25-4BF1-B504-4BC544DD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9"/>
            </a:solidFill>
            <a:prstDash val="solid"/>
          </a:ln>
        </p:spPr>
      </p:sp>
      <p:sp>
        <p:nvSpPr>
          <p:cNvPr id="16" name="brief-label-3">
            <a:extLst xmlns:a="http://schemas.openxmlformats.org/drawingml/2006/main">
              <a:ext uri="{FF2B5EF4-FFF2-40B4-BE49-F238E27FC236}">
                <a16:creationId xmlns:a16="http://schemas.microsoft.com/office/drawing/2014/main" id="{5D9FBA8A-D468-42DB-84CA-72D9386A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rPr>
              <a:t>RELEVANT CONTEXT</a:t>
            </a:r>
          </a:p>
        </p:txBody>
      </p:sp>
      <p:sp>
        <p:nvSpPr>
          <p:cNvPr id="17" name="brief-value-3">
            <a:extLst xmlns:a="http://schemas.openxmlformats.org/drawingml/2006/main">
              <a:ext uri="{FF2B5EF4-FFF2-40B4-BE49-F238E27FC236}">
                <a16:creationId xmlns:a16="http://schemas.microsoft.com/office/drawing/2014/main" id="{AB87608C-C81C-429D-B494-F4F3F3DA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767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No ear symptoms noticed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89733B-C62D-47C3-93A7-18DD97AC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9"/>
            </a:solidFill>
            <a:prstDash val="solid"/>
          </a:ln>
        </p:spPr>
      </p:sp>
      <p:sp>
        <p:nvSpPr>
          <p:cNvPr id="19" name="brief-note">
            <a:extLst xmlns:a="http://schemas.openxmlformats.org/drawingml/2006/main">
              <a:ext uri="{FF2B5EF4-FFF2-40B4-BE49-F238E27FC236}">
                <a16:creationId xmlns:a16="http://schemas.microsoft.com/office/drawing/2014/main" id="{BD63A758-269D-4EE3-A51E-81A088E3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500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500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500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500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500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500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500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500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500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Each item stays linked to the patient response that supports it. Unknown, unclear, and conflicting details remain visible for review.</a:t>
            </a:r>
          </a:p>
        </p:txBody>
      </p:sp>
    </p:spTree>
    <p:extLst>
      <p:ext uri="{BB962C8B-B14F-4D97-AF65-F5344CB8AC3E}">
        <p14:creationId xmlns:p14="http://schemas.microsoft.com/office/powerpoint/2010/main" val="20798969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6">
            <a:extLst xmlns:a="http://schemas.openxmlformats.org/drawingml/2006/main">
              <a:ext uri="{FF2B5EF4-FFF2-40B4-BE49-F238E27FC236}">
                <a16:creationId xmlns:a16="http://schemas.microsoft.com/office/drawing/2014/main" id="{B4C70BA5-B1FF-4725-8AFF-3C39F733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rPr>
              <a:t>HUMAN REVIEW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06C0F8B-59DF-475C-BFD5-9F03CD31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Safety is part of the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C6285-4E79-48FB-84DB-A7A9858C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9"/>
            </a:solidFill>
            <a:prstDash val="solid"/>
          </a:ln>
        </p:spPr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393B19F2-7AB1-4D55-8AA8-D5FCEF11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ConsultPrep AI  ·  AI documents. Clinicians decide.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DAFAC647-1D2F-4E70-B91E-14DCA88B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912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safety-lead">
            <a:extLst xmlns:a="http://schemas.openxmlformats.org/drawingml/2006/main">
              <a:ext uri="{FF2B5EF4-FFF2-40B4-BE49-F238E27FC236}">
                <a16:creationId xmlns:a16="http://schemas.microsoft.com/office/drawing/2014/main" id="{282AE27D-E57F-48D8-AD8A-CC9C64D5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672"/>
          </a:bodyPr>
          <a:lstStyle xmlns:a="http://schemas.openxmlformats.org/drawingml/2006/main">
            <a:defPPr algn="l">
              <a:defRPr sz="21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21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21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21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21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21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21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21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21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21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The model helps organize information. The application controls what can be claimed and what happens next.</a:t>
            </a:r>
          </a:p>
        </p:txBody>
      </p:sp>
      <p:sp>
        <p:nvSpPr>
          <p:cNvPr id="7" name="safety-col-a-label">
            <a:extLst xmlns:a="http://schemas.openxmlformats.org/drawingml/2006/main">
              <a:ext uri="{FF2B5EF4-FFF2-40B4-BE49-F238E27FC236}">
                <a16:creationId xmlns:a16="http://schemas.microsoft.com/office/drawing/2014/main" id="{1BFDDE7C-44F5-414C-A65C-AA587CD8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rPr>
              <a:t>PRODUCT GUARDRAILS</a:t>
            </a:r>
          </a:p>
        </p:txBody>
      </p:sp>
      <p:sp>
        <p:nvSpPr>
          <p:cNvPr id="8" name="safety-col-b-label">
            <a:extLst xmlns:a="http://schemas.openxmlformats.org/drawingml/2006/main">
              <a:ext uri="{FF2B5EF4-FFF2-40B4-BE49-F238E27FC236}">
                <a16:creationId xmlns:a16="http://schemas.microsoft.com/office/drawing/2014/main" id="{4B12B216-F04A-466E-B35A-4B788C15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rPr>
              <a:t>HUMAN CONTROL</a:t>
            </a:r>
          </a:p>
        </p:txBody>
      </p:sp>
      <p:sp>
        <p:nvSpPr>
          <p:cNvPr id="9" name="safety-check-0">
            <a:extLst xmlns:a="http://schemas.openxmlformats.org/drawingml/2006/main">
              <a:ext uri="{FF2B5EF4-FFF2-40B4-BE49-F238E27FC236}">
                <a16:creationId xmlns:a16="http://schemas.microsoft.com/office/drawing/2014/main" id="{DBAA0297-546F-4A58-9AB9-950C66C1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AE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0" name="safety-left-0">
            <a:extLst xmlns:a="http://schemas.openxmlformats.org/drawingml/2006/main">
              <a:ext uri="{FF2B5EF4-FFF2-40B4-BE49-F238E27FC236}">
                <a16:creationId xmlns:a16="http://schemas.microsoft.com/office/drawing/2014/main" id="{64810ABE-3692-42BC-8C2C-2294B4A9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575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No autonomous diagnosis or treatment advice</a:t>
            </a:r>
          </a:p>
        </p:txBody>
      </p:sp>
      <p:sp>
        <p:nvSpPr>
          <p:cNvPr id="11" name="safety-check-1">
            <a:extLst xmlns:a="http://schemas.openxmlformats.org/drawingml/2006/main">
              <a:ext uri="{FF2B5EF4-FFF2-40B4-BE49-F238E27FC236}">
                <a16:creationId xmlns:a16="http://schemas.microsoft.com/office/drawing/2014/main" id="{F92A643C-98AA-4DD2-8D51-E14AEAF8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AE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2" name="safety-left-1">
            <a:extLst xmlns:a="http://schemas.openxmlformats.org/drawingml/2006/main">
              <a:ext uri="{FF2B5EF4-FFF2-40B4-BE49-F238E27FC236}">
                <a16:creationId xmlns:a16="http://schemas.microsoft.com/office/drawing/2014/main" id="{9155302B-D902-4E29-97C3-2BF2AE48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719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Original patient statements remain available</a:t>
            </a:r>
          </a:p>
        </p:txBody>
      </p:sp>
      <p:sp>
        <p:nvSpPr>
          <p:cNvPr id="13" name="safety-check-2">
            <a:extLst xmlns:a="http://schemas.openxmlformats.org/drawingml/2006/main">
              <a:ext uri="{FF2B5EF4-FFF2-40B4-BE49-F238E27FC236}">
                <a16:creationId xmlns:a16="http://schemas.microsoft.com/office/drawing/2014/main" id="{EB179F43-5EA1-417B-ABB0-61BDDD9A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AE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4" name="safety-left-2">
            <a:extLst xmlns:a="http://schemas.openxmlformats.org/drawingml/2006/main">
              <a:ext uri="{FF2B5EF4-FFF2-40B4-BE49-F238E27FC236}">
                <a16:creationId xmlns:a16="http://schemas.microsoft.com/office/drawing/2014/main" id="{08B656DA-F169-4082-AC5C-797830AF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Reported, denied, unknown, and unclear stay distinct</a:t>
            </a:r>
          </a:p>
        </p:txBody>
      </p:sp>
      <p:sp>
        <p:nvSpPr>
          <p:cNvPr id="15" name="safety-human-0">
            <a:extLst xmlns:a="http://schemas.openxmlformats.org/drawingml/2006/main">
              <a:ext uri="{FF2B5EF4-FFF2-40B4-BE49-F238E27FC236}">
                <a16:creationId xmlns:a16="http://schemas.microsoft.com/office/drawing/2014/main" id="{6E84225D-B207-41AD-BE2E-FFF5F6E7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AE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6" name="safety-right-0">
            <a:extLst xmlns:a="http://schemas.openxmlformats.org/drawingml/2006/main">
              <a:ext uri="{FF2B5EF4-FFF2-40B4-BE49-F238E27FC236}">
                <a16:creationId xmlns:a16="http://schemas.microsoft.com/office/drawing/2014/main" id="{FE305535-4542-4879-A7EC-7BBEF788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5755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Potentially urgent symptoms interrupt routine intake</a:t>
            </a:r>
          </a:p>
        </p:txBody>
      </p:sp>
      <p:sp>
        <p:nvSpPr>
          <p:cNvPr id="17" name="safety-human-1">
            <a:extLst xmlns:a="http://schemas.openxmlformats.org/drawingml/2006/main">
              <a:ext uri="{FF2B5EF4-FFF2-40B4-BE49-F238E27FC236}">
                <a16:creationId xmlns:a16="http://schemas.microsoft.com/office/drawing/2014/main" id="{814DD5DA-6D53-45E5-A893-125A5A55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909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AE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8" name="safety-right-1">
            <a:extLst xmlns:a="http://schemas.openxmlformats.org/drawingml/2006/main">
              <a:ext uri="{FF2B5EF4-FFF2-40B4-BE49-F238E27FC236}">
                <a16:creationId xmlns:a16="http://schemas.microsoft.com/office/drawing/2014/main" id="{F18D7884-0A3F-4149-A692-914BF130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71925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Patient can review and correct the draft</a:t>
            </a:r>
          </a:p>
        </p:txBody>
      </p:sp>
      <p:sp>
        <p:nvSpPr>
          <p:cNvPr id="19" name="safety-human-2">
            <a:extLst xmlns:a="http://schemas.openxmlformats.org/drawingml/2006/main">
              <a:ext uri="{FF2B5EF4-FFF2-40B4-BE49-F238E27FC236}">
                <a16:creationId xmlns:a16="http://schemas.microsoft.com/office/drawing/2014/main" id="{1E7852E8-AD8A-479B-8B61-AE204053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053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AE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20" name="safety-right-2">
            <a:extLst xmlns:a="http://schemas.openxmlformats.org/drawingml/2006/main">
              <a:ext uri="{FF2B5EF4-FFF2-40B4-BE49-F238E27FC236}">
                <a16:creationId xmlns:a16="http://schemas.microsoft.com/office/drawing/2014/main" id="{1188E839-8F5E-4C1B-B522-367FD59D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8630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Clinician retains assessment and finalization</a:t>
            </a:r>
          </a:p>
        </p:txBody>
      </p:sp>
      <p:sp>
        <p:nvSpPr>
          <p:cNvPr id="21" name="safety-caveat">
            <a:extLst xmlns:a="http://schemas.openxmlformats.org/drawingml/2006/main">
              <a:ext uri="{FF2B5EF4-FFF2-40B4-BE49-F238E27FC236}">
                <a16:creationId xmlns:a16="http://schemas.microsoft.com/office/drawing/2014/main" id="{751A4D2F-A6A8-47F1-832D-58CF3DFE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350" b="1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350" b="1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350" b="1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350" b="1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350" b="1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350" b="1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350" b="1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350" b="1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350" b="1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Synthetic patient example. Not clinically validated.</a:t>
            </a:r>
          </a:p>
        </p:txBody>
      </p:sp>
    </p:spTree>
    <p:extLst>
      <p:ext uri="{BB962C8B-B14F-4D97-AF65-F5344CB8AC3E}">
        <p14:creationId xmlns:p14="http://schemas.microsoft.com/office/powerpoint/2010/main" val="418198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7">
            <a:extLst xmlns:a="http://schemas.openxmlformats.org/drawingml/2006/main">
              <a:ext uri="{FF2B5EF4-FFF2-40B4-BE49-F238E27FC236}">
                <a16:creationId xmlns:a16="http://schemas.microsoft.com/office/drawing/2014/main" id="{880824DD-8077-4A14-BAEA-E04FD972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rPr>
              <a:t>TECHNOLOGY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E81F75F0-50E3-424F-8A08-3F385E31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AMD-powered intelligence for ConsultPrep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90B38-D3B3-4E0B-BF19-6FEFFD4F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9"/>
            </a:solidFill>
            <a:prstDash val="solid"/>
          </a:ln>
        </p:spPr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230ADA68-D959-40C8-9DA6-8F3F8CCB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ConsultPrep AI  ·  AI documents. Clinicians decide.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AA5C47C3-057D-4401-98A6-C685B4DE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912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amd-lead">
            <a:extLst xmlns:a="http://schemas.openxmlformats.org/drawingml/2006/main">
              <a:ext uri="{FF2B5EF4-FFF2-40B4-BE49-F238E27FC236}">
                <a16:creationId xmlns:a16="http://schemas.microsoft.com/office/drawing/2014/main" id="{79C5C8F6-BFDB-400F-9D99-03199DDD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14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AMD inference powers the patient intake and consultation summary.</a:t>
            </a:r>
          </a:p>
        </p:txBody>
      </p:sp>
      <p:sp>
        <p:nvSpPr>
          <p:cNvPr id="7" name="amd-current-label">
            <a:extLst xmlns:a="http://schemas.openxmlformats.org/drawingml/2006/main">
              <a:ext uri="{FF2B5EF4-FFF2-40B4-BE49-F238E27FC236}">
                <a16:creationId xmlns:a16="http://schemas.microsoft.com/office/drawing/2014/main" id="{84EF11D9-0422-471C-AFF4-2AEA09B8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rPr>
              <a:t>INTAKE CONVERSATION</a:t>
            </a:r>
          </a:p>
        </p:txBody>
      </p:sp>
      <p:sp>
        <p:nvSpPr>
          <p:cNvPr id="8" name="amd-current">
            <a:extLst xmlns:a="http://schemas.openxmlformats.org/drawingml/2006/main">
              <a:ext uri="{FF2B5EF4-FFF2-40B4-BE49-F238E27FC236}">
                <a16:creationId xmlns:a16="http://schemas.microsoft.com/office/drawing/2014/main" id="{11A65B4E-F580-49C3-8D2A-793081A8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6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6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6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6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6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6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6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6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6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AMD inference interprets each patient turn, retains context, and guides focused follow-up questions.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B8EB8C-E2B5-4B7B-98D5-19B3E4C5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71750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0D9"/>
            </a:solidFill>
            <a:prstDash val="solid"/>
          </a:ln>
        </p:spPr>
      </p:sp>
      <p:sp>
        <p:nvSpPr>
          <p:cNvPr id="10" name="amd-target-label">
            <a:extLst xmlns:a="http://schemas.openxmlformats.org/drawingml/2006/main">
              <a:ext uri="{FF2B5EF4-FFF2-40B4-BE49-F238E27FC236}">
                <a16:creationId xmlns:a16="http://schemas.microsoft.com/office/drawing/2014/main" id="{79E231AB-5B48-4280-AE00-D287348B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67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rPr>
              <a:t>CLINICIAN BRIEF</a:t>
            </a:r>
          </a:p>
        </p:txBody>
      </p:sp>
      <p:sp>
        <p:nvSpPr>
          <p:cNvPr id="11" name="amd-target">
            <a:extLst xmlns:a="http://schemas.openxmlformats.org/drawingml/2006/main">
              <a:ext uri="{FF2B5EF4-FFF2-40B4-BE49-F238E27FC236}">
                <a16:creationId xmlns:a16="http://schemas.microsoft.com/office/drawing/2014/main" id="{DC82C9AF-9DC1-4B84-89B1-20195EBC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38475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6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6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6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6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6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6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6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6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6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The workflow organizes reported details into a patient-reviewed, source-linked summary.</a:t>
            </a:r>
          </a:p>
        </p:txBody>
      </p:sp>
      <p:sp>
        <p:nvSpPr>
          <p:cNvPr id="12" name="amd-proof-label">
            <a:extLst xmlns:a="http://schemas.openxmlformats.org/drawingml/2006/main">
              <a:ext uri="{FF2B5EF4-FFF2-40B4-BE49-F238E27FC236}">
                <a16:creationId xmlns:a16="http://schemas.microsoft.com/office/drawing/2014/main" id="{0AD44DC9-23C6-466B-843E-02CE096B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005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rPr>
              <a:t>SYSTEM VALIDATION</a:t>
            </a:r>
          </a:p>
        </p:txBody>
      </p:sp>
      <p:sp>
        <p:nvSpPr>
          <p:cNvPr id="13" name="amd-proof">
            <a:extLst xmlns:a="http://schemas.openxmlformats.org/drawingml/2006/main">
              <a:ext uri="{FF2B5EF4-FFF2-40B4-BE49-F238E27FC236}">
                <a16:creationId xmlns:a16="http://schemas.microsoft.com/office/drawing/2014/main" id="{23DA66E5-97E6-4396-A12A-7D609CDF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244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350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350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350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350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350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350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350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350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350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Evaluate inference quality, response time, and summary fidelity across realistic synthetic cases.</a:t>
            </a:r>
          </a:p>
        </p:txBody>
      </p:sp>
      <p:sp>
        <p:nvSpPr>
          <p:cNvPr id="14" name="amd-note">
            <a:extLst xmlns:a="http://schemas.openxmlformats.org/drawingml/2006/main">
              <a:ext uri="{FF2B5EF4-FFF2-40B4-BE49-F238E27FC236}">
                <a16:creationId xmlns:a16="http://schemas.microsoft.com/office/drawing/2014/main" id="{CD059B59-481F-41BF-83DA-52B12356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A8681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350" b="1">
                <a:solidFill>
                  <a:srgbClr val="A8681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350" b="1">
                <a:solidFill>
                  <a:srgbClr val="A8681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350" b="1">
                <a:solidFill>
                  <a:srgbClr val="A8681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350" b="1">
                <a:solidFill>
                  <a:srgbClr val="A8681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350" b="1">
                <a:solidFill>
                  <a:srgbClr val="A8681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350" b="1">
                <a:solidFill>
                  <a:srgbClr val="A8681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350" b="1">
                <a:solidFill>
                  <a:srgbClr val="A8681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350" b="1">
                <a:solidFill>
                  <a:srgbClr val="A8681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350" b="1">
                <a:solidFill>
                  <a:srgbClr val="A8681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A868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A8681A"/>
                </a:solidFill>
                <a:latin typeface="Helvetica Neue"/>
                <a:ea typeface="Helvetica Neue"/>
                <a:cs typeface="Helvetica Neue"/>
              </a:rPr>
              <a:t>Patient-reviewed documentation supports clinical care; it does not diagnose or replace a clinician.</a:t>
            </a:r>
          </a:p>
        </p:txBody>
      </p:sp>
    </p:spTree>
    <p:extLst>
      <p:ext uri="{BB962C8B-B14F-4D97-AF65-F5344CB8AC3E}">
        <p14:creationId xmlns:p14="http://schemas.microsoft.com/office/powerpoint/2010/main" val="6458270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8">
            <a:extLst xmlns:a="http://schemas.openxmlformats.org/drawingml/2006/main">
              <a:ext uri="{FF2B5EF4-FFF2-40B4-BE49-F238E27FC236}">
                <a16:creationId xmlns:a16="http://schemas.microsoft.com/office/drawing/2014/main" id="{09DE60B0-8164-4FCF-969E-B997C236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rPr>
              <a:t>VALUE HYPOTHESIS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21149B76-2F36-4F29-A29D-684F9E62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Measure a clearer starting 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42B4F-0BA6-4962-9A13-BAE08F9D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9"/>
            </a:solidFill>
            <a:prstDash val="solid"/>
          </a:ln>
        </p:spPr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46D0DB52-1132-4BEA-B807-C3B49E6C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ConsultPrep AI  ·  AI documents. Clinicians decide.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E44DADF3-B061-43DD-A06F-2D6FD370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912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value-hypothesis">
            <a:extLst xmlns:a="http://schemas.openxmlformats.org/drawingml/2006/main">
              <a:ext uri="{FF2B5EF4-FFF2-40B4-BE49-F238E27FC236}">
                <a16:creationId xmlns:a16="http://schemas.microsoft.com/office/drawing/2014/main" id="{B372B5B5-66A0-4DE3-B861-7E2F7BD2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21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21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21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21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21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21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21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21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21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A structured, source-linked intake may help patients explain their concerns and give clinicians a more organized starting point.</a:t>
            </a:r>
          </a:p>
        </p:txBody>
      </p:sp>
      <p:sp>
        <p:nvSpPr>
          <p:cNvPr id="7" name="value-label">
            <a:extLst xmlns:a="http://schemas.openxmlformats.org/drawingml/2006/main">
              <a:ext uri="{FF2B5EF4-FFF2-40B4-BE49-F238E27FC236}">
                <a16:creationId xmlns:a16="http://schemas.microsoft.com/office/drawing/2014/main" id="{64DBF740-CAC1-4889-847B-BD7BB0BC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0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rPr>
              <a:t>WHAT WE WILL MEASURE</a:t>
            </a:r>
          </a:p>
        </p:txBody>
      </p:sp>
      <p:sp>
        <p:nvSpPr>
          <p:cNvPr id="8" name="metric-index-0">
            <a:extLst xmlns:a="http://schemas.openxmlformats.org/drawingml/2006/main">
              <a:ext uri="{FF2B5EF4-FFF2-40B4-BE49-F238E27FC236}">
                <a16:creationId xmlns:a16="http://schemas.microsoft.com/office/drawing/2014/main" id="{3B19C4D8-DD08-4FB5-A94B-1BD413CF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metric-0">
            <a:extLst xmlns:a="http://schemas.openxmlformats.org/drawingml/2006/main">
              <a:ext uri="{FF2B5EF4-FFF2-40B4-BE49-F238E27FC236}">
                <a16:creationId xmlns:a16="http://schemas.microsoft.com/office/drawing/2014/main" id="{AF8E53A5-692E-4152-B9C8-267B39A8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099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Correct capture of explicitly reported details</a:t>
            </a:r>
          </a:p>
        </p:txBody>
      </p:sp>
      <p:sp>
        <p:nvSpPr>
          <p:cNvPr id="10" name="metric-index-1">
            <a:extLst xmlns:a="http://schemas.openxmlformats.org/drawingml/2006/main">
              <a:ext uri="{FF2B5EF4-FFF2-40B4-BE49-F238E27FC236}">
                <a16:creationId xmlns:a16="http://schemas.microsoft.com/office/drawing/2014/main" id="{56F1F75B-D68B-4E23-8A42-C1306224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metric-1">
            <a:extLst xmlns:a="http://schemas.openxmlformats.org/drawingml/2006/main">
              <a:ext uri="{FF2B5EF4-FFF2-40B4-BE49-F238E27FC236}">
                <a16:creationId xmlns:a16="http://schemas.microsoft.com/office/drawing/2014/main" id="{257AFE96-6733-4A68-851C-EED4EC14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3382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Repeated-question rate across synthetic cases</a:t>
            </a:r>
          </a:p>
        </p:txBody>
      </p:sp>
      <p:sp>
        <p:nvSpPr>
          <p:cNvPr id="12" name="metric-index-2">
            <a:extLst xmlns:a="http://schemas.openxmlformats.org/drawingml/2006/main">
              <a:ext uri="{FF2B5EF4-FFF2-40B4-BE49-F238E27FC236}">
                <a16:creationId xmlns:a16="http://schemas.microsoft.com/office/drawing/2014/main" id="{6A1D75E0-9C45-4BB1-A051-24591621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metric-2">
            <a:extLst xmlns:a="http://schemas.openxmlformats.org/drawingml/2006/main">
              <a:ext uri="{FF2B5EF4-FFF2-40B4-BE49-F238E27FC236}">
                <a16:creationId xmlns:a16="http://schemas.microsoft.com/office/drawing/2014/main" id="{1EA502B5-4422-4874-963B-72885A9E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577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Intake completion and model response latency</a:t>
            </a:r>
          </a:p>
        </p:txBody>
      </p:sp>
      <p:sp>
        <p:nvSpPr>
          <p:cNvPr id="14" name="metric-index-3">
            <a:extLst xmlns:a="http://schemas.openxmlformats.org/drawingml/2006/main">
              <a:ext uri="{FF2B5EF4-FFF2-40B4-BE49-F238E27FC236}">
                <a16:creationId xmlns:a16="http://schemas.microsoft.com/office/drawing/2014/main" id="{FBAED1F5-5932-409C-BB14-FF142851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metric-3">
            <a:extLst xmlns:a="http://schemas.openxmlformats.org/drawingml/2006/main">
              <a:ext uri="{FF2B5EF4-FFF2-40B4-BE49-F238E27FC236}">
                <a16:creationId xmlns:a16="http://schemas.microsoft.com/office/drawing/2014/main" id="{5EF55025-C897-449A-9796-8B76783B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815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Clinician rating of summary usefulness</a:t>
            </a:r>
          </a:p>
        </p:txBody>
      </p:sp>
      <p:sp>
        <p:nvSpPr>
          <p:cNvPr id="16" name="value-callout">
            <a:extLst xmlns:a="http://schemas.openxmlformats.org/drawingml/2006/main">
              <a:ext uri="{FF2B5EF4-FFF2-40B4-BE49-F238E27FC236}">
                <a16:creationId xmlns:a16="http://schemas.microsoft.com/office/drawing/2014/main" id="{049CFF72-4456-4FB4-8DC7-16475E1F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value-disclosure">
            <a:extLst xmlns:a="http://schemas.openxmlformats.org/drawingml/2006/main">
              <a:ext uri="{FF2B5EF4-FFF2-40B4-BE49-F238E27FC236}">
                <a16:creationId xmlns:a16="http://schemas.microsoft.com/office/drawing/2014/main" id="{2394E8BB-4B0C-4E27-A5E5-21B6E39E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578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200" b="1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200" b="1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200" b="1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200" b="1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200" b="1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200" b="1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200" b="1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200" b="1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200" b="1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No clinical, time-saving, or accuracy outcome is claimed before it is measured.</a:t>
            </a:r>
          </a:p>
        </p:txBody>
      </p:sp>
    </p:spTree>
    <p:extLst>
      <p:ext uri="{BB962C8B-B14F-4D97-AF65-F5344CB8AC3E}">
        <p14:creationId xmlns:p14="http://schemas.microsoft.com/office/powerpoint/2010/main" val="3228099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kicker-9">
            <a:extLst xmlns:a="http://schemas.openxmlformats.org/drawingml/2006/main">
              <a:ext uri="{FF2B5EF4-FFF2-40B4-BE49-F238E27FC236}">
                <a16:creationId xmlns:a16="http://schemas.microsoft.com/office/drawing/2014/main" id="{76580070-9A29-476D-8CDD-6A3DF966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rPr>
              <a:t>PRODUCT SCREENS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FB9E4F79-9056-4742-A8A2-454B62E3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The patient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48BD4-ECF5-4EF0-BF18-1068F2EE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9"/>
            </a:solidFill>
            <a:prstDash val="solid"/>
          </a:ln>
        </p:spPr>
      </p:sp>
      <p:sp>
        <p:nvSpPr>
          <p:cNvPr id="4" name="footer-9">
            <a:extLst xmlns:a="http://schemas.openxmlformats.org/drawingml/2006/main">
              <a:ext uri="{FF2B5EF4-FFF2-40B4-BE49-F238E27FC236}">
                <a16:creationId xmlns:a16="http://schemas.microsoft.com/office/drawing/2014/main" id="{24FF8552-A581-440A-9E6A-FF0F5B42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ConsultPrep AI  ·  AI documents. Clinicians decide.</a:t>
            </a:r>
          </a:p>
        </p:txBody>
      </p:sp>
      <p:sp>
        <p:nvSpPr>
          <p:cNvPr id="5" name="page-9">
            <a:extLst xmlns:a="http://schemas.openxmlformats.org/drawingml/2006/main">
              <a:ext uri="{FF2B5EF4-FFF2-40B4-BE49-F238E27FC236}">
                <a16:creationId xmlns:a16="http://schemas.microsoft.com/office/drawing/2014/main" id="{7CD48D21-EA95-44CB-97A8-D94E9F68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912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0F929-F443-485B-9CF1-92AFEFE65E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cde569d524f94"/>
          <a:stretch xmlns:a="http://schemas.openxmlformats.org/drawingml/2006/main"/>
        </p:blipFill>
        <p:spPr>
          <a:xfrm xmlns:a="http://schemas.openxmlformats.org/drawingml/2006/main">
            <a:off x="2160666" y="1562100"/>
            <a:ext cx="7870668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7794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kicker-10">
            <a:extLst xmlns:a="http://schemas.openxmlformats.org/drawingml/2006/main">
              <a:ext uri="{FF2B5EF4-FFF2-40B4-BE49-F238E27FC236}">
                <a16:creationId xmlns:a16="http://schemas.microsoft.com/office/drawing/2014/main" id="{8BDB1847-75BD-491E-91D9-ED989449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rPr>
              <a:t>PRODUCT SCREENS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4F7AA01D-65F1-4E3F-A3B4-B593CE09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An active consultation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80CB2-029E-43C7-9DB4-22068BF9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9"/>
            </a:solidFill>
            <a:prstDash val="solid"/>
          </a:ln>
        </p:spPr>
      </p:sp>
      <p:sp>
        <p:nvSpPr>
          <p:cNvPr id="4" name="footer-10">
            <a:extLst xmlns:a="http://schemas.openxmlformats.org/drawingml/2006/main">
              <a:ext uri="{FF2B5EF4-FFF2-40B4-BE49-F238E27FC236}">
                <a16:creationId xmlns:a16="http://schemas.microsoft.com/office/drawing/2014/main" id="{10117680-70D4-4805-87A0-1EB427C8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ConsultPrep AI  ·  AI documents. Clinicians decide.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90F2BCB7-ED04-4FAB-ABD3-F21A6A99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912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3D84C-4E06-4DC7-8CEA-71FD80BC5B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08748a92e46d8"/>
          <a:stretch xmlns:a="http://schemas.openxmlformats.org/drawingml/2006/main"/>
        </p:blipFill>
        <p:spPr>
          <a:xfrm xmlns:a="http://schemas.openxmlformats.org/drawingml/2006/main">
            <a:off x="2183027" y="1562100"/>
            <a:ext cx="7825946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667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11">
            <a:extLst xmlns:a="http://schemas.openxmlformats.org/drawingml/2006/main">
              <a:ext uri="{FF2B5EF4-FFF2-40B4-BE49-F238E27FC236}">
                <a16:creationId xmlns:a16="http://schemas.microsoft.com/office/drawing/2014/main" id="{AA4E4E51-DCEB-4261-A74D-C79CF4D4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7B59"/>
                </a:solidFill>
                <a:latin typeface="Helvetica Neue"/>
                <a:ea typeface="Helvetica Neue"/>
                <a:cs typeface="Helvetica Neue"/>
              </a:rPr>
              <a:t>PEOPLE AND CONTRIBUTIONS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8C930536-AD90-4E21-8EEC-F852AFED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The 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20D5F-255B-4718-B9E2-0E3F7365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9"/>
            </a:solidFill>
            <a:prstDash val="solid"/>
          </a:ln>
        </p:spPr>
      </p:sp>
      <p:sp>
        <p:nvSpPr>
          <p:cNvPr id="4" name="footer-11">
            <a:extLst xmlns:a="http://schemas.openxmlformats.org/drawingml/2006/main">
              <a:ext uri="{FF2B5EF4-FFF2-40B4-BE49-F238E27FC236}">
                <a16:creationId xmlns:a16="http://schemas.microsoft.com/office/drawing/2014/main" id="{36076FEC-DE93-42ED-B468-BBBD0107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ConsultPrep AI  ·  AI documents. Clinicians decide.</a:t>
            </a:r>
          </a:p>
        </p:txBody>
      </p:sp>
      <p:sp>
        <p:nvSpPr>
          <p:cNvPr id="5" name="page-11">
            <a:extLst xmlns:a="http://schemas.openxmlformats.org/drawingml/2006/main">
              <a:ext uri="{FF2B5EF4-FFF2-40B4-BE49-F238E27FC236}">
                <a16:creationId xmlns:a16="http://schemas.microsoft.com/office/drawing/2014/main" id="{66403614-A341-40BF-B84D-B3C56174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912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team-names-0">
            <a:extLst xmlns:a="http://schemas.openxmlformats.org/drawingml/2006/main">
              <a:ext uri="{FF2B5EF4-FFF2-40B4-BE49-F238E27FC236}">
                <a16:creationId xmlns:a16="http://schemas.microsoft.com/office/drawing/2014/main" id="{B7347396-63F3-4F13-AA88-66ABB270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Austin Pavia</a:t>
            </a:r>
          </a:p>
        </p:txBody>
      </p:sp>
      <p:sp>
        <p:nvSpPr>
          <p:cNvPr id="7" name="team-role-0">
            <a:extLst xmlns:a="http://schemas.openxmlformats.org/drawingml/2006/main">
              <a:ext uri="{FF2B5EF4-FFF2-40B4-BE49-F238E27FC236}">
                <a16:creationId xmlns:a16="http://schemas.microsoft.com/office/drawing/2014/main" id="{66EF13B6-3B50-4475-B15A-33CB7FBA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43075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rPr>
              <a:t>AI engineering &amp; conversational intelligence</a:t>
            </a:r>
          </a:p>
        </p:txBody>
      </p:sp>
      <p:sp>
        <p:nvSpPr>
          <p:cNvPr id="8" name="team-body-0">
            <a:extLst xmlns:a="http://schemas.openxmlformats.org/drawingml/2006/main">
              <a:ext uri="{FF2B5EF4-FFF2-40B4-BE49-F238E27FC236}">
                <a16:creationId xmlns:a16="http://schemas.microsoft.com/office/drawing/2014/main" id="{FC768CC3-3DB5-4412-B59D-F453D8AE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52650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Designed the intake engine around AMD-powered inference, with conversation context, focused follow-ups, source-linked summaries, safety handling, and response recovery.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78715-8A6E-4A74-B2C7-44E19355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9"/>
            </a:solidFill>
            <a:prstDash val="solid"/>
          </a:ln>
        </p:spPr>
      </p:sp>
      <p:sp>
        <p:nvSpPr>
          <p:cNvPr id="10" name="team-names-1">
            <a:extLst xmlns:a="http://schemas.openxmlformats.org/drawingml/2006/main">
              <a:ext uri="{FF2B5EF4-FFF2-40B4-BE49-F238E27FC236}">
                <a16:creationId xmlns:a16="http://schemas.microsoft.com/office/drawing/2014/main" id="{89E2B42E-1D8A-4D22-8095-0C299ABF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05175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Jose Miguel Villareal · Jian Joshua Cleofe</a:t>
            </a:r>
          </a:p>
        </p:txBody>
      </p:sp>
      <p:sp>
        <p:nvSpPr>
          <p:cNvPr id="11" name="team-role-1">
            <a:extLst xmlns:a="http://schemas.openxmlformats.org/drawingml/2006/main">
              <a:ext uri="{FF2B5EF4-FFF2-40B4-BE49-F238E27FC236}">
                <a16:creationId xmlns:a16="http://schemas.microsoft.com/office/drawing/2014/main" id="{5A8042EE-D91E-429F-BFD8-AEF4CEDB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147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rPr>
              <a:t>Application &amp; backend engineering</a:t>
            </a:r>
          </a:p>
        </p:txBody>
      </p:sp>
      <p:sp>
        <p:nvSpPr>
          <p:cNvPr id="12" name="team-body-1">
            <a:extLst xmlns:a="http://schemas.openxmlformats.org/drawingml/2006/main">
              <a:ext uri="{FF2B5EF4-FFF2-40B4-BE49-F238E27FC236}">
                <a16:creationId xmlns:a16="http://schemas.microsoft.com/office/drawing/2014/main" id="{440C0CA8-26F7-402B-923E-E084D2A8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24275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Jose built API contracts, database schema and migrations, authorization, consultation persistence, and clinician review services. Jian set up backend tooling and helped stabilize intake integration and frontend tests.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ECC5F7-1405-48D5-A5A0-B1F3AE40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9"/>
            </a:solidFill>
            <a:prstDash val="solid"/>
          </a:ln>
        </p:spPr>
      </p:sp>
      <p:sp>
        <p:nvSpPr>
          <p:cNvPr id="14" name="team-names-2">
            <a:extLst xmlns:a="http://schemas.openxmlformats.org/drawingml/2006/main">
              <a:ext uri="{FF2B5EF4-FFF2-40B4-BE49-F238E27FC236}">
                <a16:creationId xmlns:a16="http://schemas.microsoft.com/office/drawing/2014/main" id="{BDFE4391-7964-479A-BC80-C030C08E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251D"/>
                </a:solidFill>
                <a:latin typeface="Helvetica Neue"/>
                <a:ea typeface="Helvetica Neue"/>
                <a:cs typeface="Helvetica Neue"/>
              </a:rPr>
              <a:t>John Paul Jacob</a:t>
            </a:r>
          </a:p>
        </p:txBody>
      </p:sp>
      <p:sp>
        <p:nvSpPr>
          <p:cNvPr id="15" name="team-role-2">
            <a:extLst xmlns:a="http://schemas.openxmlformats.org/drawingml/2006/main">
              <a:ext uri="{FF2B5EF4-FFF2-40B4-BE49-F238E27FC236}">
                <a16:creationId xmlns:a16="http://schemas.microsoft.com/office/drawing/2014/main" id="{8E6D02FD-CFB3-4B2A-85D0-683E9F05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86325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44"/>
                </a:solidFill>
                <a:latin typeface="Helvetica Neue"/>
                <a:ea typeface="Helvetica Neue"/>
                <a:cs typeface="Helvetica Neue"/>
              </a:rPr>
              <a:t>Product experience &amp; quality assurance</a:t>
            </a:r>
          </a:p>
        </p:txBody>
      </p:sp>
      <p:sp>
        <p:nvSpPr>
          <p:cNvPr id="16" name="team-body-2">
            <a:extLst xmlns:a="http://schemas.openxmlformats.org/drawingml/2006/main">
              <a:ext uri="{FF2B5EF4-FFF2-40B4-BE49-F238E27FC236}">
                <a16:creationId xmlns:a16="http://schemas.microsoft.com/office/drawing/2014/main" id="{1A3F20C4-F2CF-4A38-83B4-A57C8A57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95900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5A"/>
                </a:solidFill>
                <a:latin typeface="Helvetica Neue"/>
                <a:ea typeface="Helvetica Neue"/>
                <a:cs typeface="Helvetica Neue"/>
              </a:rPr>
              <a:t>Worked on the patient review experience, interaction states, usability and accessibility checks, regression testing, and release-readiness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3801016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2026-10-18T04:58:35.3200000Z</dcterms:created>
  <dcterms:modified xsi:type="dcterms:W3CDTF">2026-10-18T04:58:35.3200000Z</dcterms:modified>
</coreProperties>
</file>